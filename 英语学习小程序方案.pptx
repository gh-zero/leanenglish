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英语学习小程序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D3E6"/>
                </a:solidFill>
              </a:rPr>
              <a:t>EnglishMaster - 从零基础到自由沟通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A7A7A"/>
                </a:solidFill>
              </a:rPr>
              <a:t>产品方案与技术架构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产品概述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产品定位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面向国内零基础成人，打造从音标发音矫正→单词积累→系统语法→短句情景对话→自由和AI外国人闲聊的沉浸式自学口语闭环。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目标用户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F1F1F"/>
                </a:solidFill>
              </a:rPr>
              <a:t>• 英语零基础或基础薄弱的成人学习者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希望提高口语发音和流利度的职场人士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需要系统学习语法、应对日常沟通的学习者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核心价值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F1F1F"/>
                </a:solidFill>
              </a:rPr>
              <a:t>• AI纠音：音素级发音评估，纠正中式发音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科学记忆：艾宾浩斯记忆曲线，高效背单词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场景化语法：融入日常对话，学完就能用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AI对话陪练：模拟真实场景，锻炼口语反应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技术平台选型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最终选型：微信小程序（核心主产品）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F1F1F"/>
                </a:solidFill>
              </a:rPr>
              <a:t>• 前端框架：UniApp/Taro（Vue语法，可跨平台编译）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后端服务：Node.js/Java + 云服务器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语音评测：微软Azure发音评测 / 讯飞语音口语评测SDK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数据存储：MySQL + Redis + 对象存储（OSS）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推送服务：微信小程序订阅消息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选型理由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175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F1F1F"/>
                </a:solidFill>
              </a:rPr>
              <a:t>• 国内用户体量最大，打开零门槛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微信原生录音API成熟，完美兼容语音评测SDK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社交裂变无敌：打卡分享、好友组队背单词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服务通知可定时推送背单词提醒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微信支付成熟，后期开通会员简单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前期低成本启动、快速迭代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核心功能模块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发音跟读模块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F1F1F"/>
                </a:solidFill>
              </a:rPr>
              <a:t>• 音标发音通关课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48个英美音标逐个教学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AI发音评估与纠错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单词逐词跟读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短句/段落影子跟读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AI情景对话陪练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单词记忆模块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F1F1F"/>
                </a:solidFill>
              </a:rPr>
              <a:t>• 分级词库（500/1500/3000词）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艾宾浩斯记忆曲线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听音辨义、拼写默写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图片联想记忆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例句语境学习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错题生词本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语法学习模块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F1F1F"/>
                </a:solidFill>
              </a:rPr>
              <a:t>• 三阶段语法课程体系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场景化语法讲解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填空练习、造句练习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AI批改语法错误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实时语法纠错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语法知识图谱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发音跟读模块详解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功能流程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74320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</a:rPr>
              <a:t>选择课程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148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音标/单词/句子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3063240"/>
            <a:ext cx="457200" cy="9144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17520" y="274320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657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</a:rPr>
              <a:t>播放标准发音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1148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可重复播放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063240"/>
            <a:ext cx="457200" cy="9144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03520" y="274320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59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</a:rPr>
              <a:t>用户跟读录音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1148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实时录制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3063240"/>
            <a:ext cx="457200" cy="9144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89520" y="274320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657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</a:rPr>
              <a:t>AI语音评测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1148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音素级分析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063240"/>
            <a:ext cx="457200" cy="9144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75520" y="274320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657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</a:rPr>
              <a:t>反馈与纠错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1148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评分+改进建议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技术实现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F1F1F"/>
                </a:solidFill>
              </a:rPr>
              <a:t>• 语音录制：使用wx.getRecorderManager录制用户发音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语音评测：集成微软Azure发音评测SDK，音素级评估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反馈展示：显示评分、识别文本、标准文本，高亮错误音节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多级支持：音标→单词→短句→段落→情景对话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单词记忆模块详解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记忆闭环流程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286000"/>
            <a:ext cx="1097280" cy="109728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第1步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听音辨义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播放发音选择释义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286000"/>
            <a:ext cx="1097280" cy="10972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560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第2步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474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看英文想中文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显示单词回忆释义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14800"/>
            <a:ext cx="1097280" cy="109728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第3步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拼写默写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92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根据释义拼写单词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0" y="4114800"/>
            <a:ext cx="1097280" cy="10972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4389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第4步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303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单词跟读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6492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</a:rPr>
              <a:t>跟读发音AI评分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459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SRS算法（间隔重复系统）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F1F1F"/>
                </a:solidFill>
              </a:rPr>
              <a:t>• 基于艾宾浩斯遗忘曲线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根据用户记忆程度动态调整复习间隔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SM-2算法实现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记住的单词延长复习间隔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忘记的单词缩短复习间隔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智能安排每日复习计划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辅助工具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0292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F1F1F"/>
                </a:solidFill>
              </a:rPr>
              <a:t>• 错题生词本：自动收集标记单词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薄弱词汇强化：针对错误率高的单词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单词打卡日历：可视化学习连续性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好友背单词PK：微信好友排名激励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语法学习模块详解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三阶段语法课程体系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474720" cy="27432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阶段1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基础句型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FFFFFF"/>
                </a:solidFill>
              </a:rPr>
              <a:t>• 主谓宾结构</a:t>
            </a:r>
          </a:p>
          <a:p>
            <a:pPr/>
            <a:r>
              <a:rPr sz="1400">
                <a:solidFill>
                  <a:srgbClr val="FFFFFF"/>
                </a:solidFill>
              </a:rPr>
              <a:t>• 主系表结构</a:t>
            </a:r>
          </a:p>
          <a:p>
            <a:pPr/>
            <a:r>
              <a:rPr sz="1400">
                <a:solidFill>
                  <a:srgbClr val="FFFFFF"/>
                </a:solidFill>
              </a:rPr>
              <a:t>• 疑问句构造</a:t>
            </a:r>
          </a:p>
          <a:p>
            <a:pPr/>
            <a:r>
              <a:rPr sz="1400">
                <a:solidFill>
                  <a:srgbClr val="FFFFFF"/>
                </a:solidFill>
              </a:rPr>
              <a:t>• 时态入门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86000"/>
            <a:ext cx="3474720" cy="2743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阶段2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核心语法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474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FFFFFF"/>
                </a:solidFill>
              </a:rPr>
              <a:t>• 8大核心时态</a:t>
            </a:r>
          </a:p>
          <a:p>
            <a:pPr/>
            <a:r>
              <a:rPr sz="1400">
                <a:solidFill>
                  <a:srgbClr val="FFFFFF"/>
                </a:solidFill>
              </a:rPr>
              <a:t>• 冠词用法</a:t>
            </a:r>
          </a:p>
          <a:p>
            <a:pPr/>
            <a:r>
              <a:rPr sz="1400">
                <a:solidFill>
                  <a:srgbClr val="FFFFFF"/>
                </a:solidFill>
              </a:rPr>
              <a:t>• 介词搭配</a:t>
            </a:r>
          </a:p>
          <a:p>
            <a:pPr/>
            <a:r>
              <a:rPr sz="1400">
                <a:solidFill>
                  <a:srgbClr val="FFFFFF"/>
                </a:solidFill>
              </a:rPr>
              <a:t>• 代词指代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286000"/>
            <a:ext cx="3474720" cy="2743200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阶段3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进阶语法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74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FFFFFF"/>
                </a:solidFill>
              </a:rPr>
              <a:t>• 从句结构</a:t>
            </a:r>
          </a:p>
          <a:p>
            <a:pPr/>
            <a:r>
              <a:rPr sz="1400">
                <a:solidFill>
                  <a:srgbClr val="FFFFFF"/>
                </a:solidFill>
              </a:rPr>
              <a:t>• 非谓语动词</a:t>
            </a:r>
          </a:p>
          <a:p>
            <a:pPr/>
            <a:r>
              <a:rPr sz="1400">
                <a:solidFill>
                  <a:srgbClr val="FFFFFF"/>
                </a:solidFill>
              </a:rPr>
              <a:t>• 虚拟语气</a:t>
            </a:r>
          </a:p>
          <a:p>
            <a:pPr/>
            <a:r>
              <a:rPr sz="1400">
                <a:solidFill>
                  <a:srgbClr val="FFFFFF"/>
                </a:solidFill>
              </a:rPr>
              <a:t>• 复杂句式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学习形式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F1F1F"/>
                </a:solidFill>
              </a:rPr>
              <a:t>• 短句例句 + 图文讲解 → 填空练习 → 造句练习 → AI批改句子语法正误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场景化拆解语法：把语法融入日常对话场景，学完立刻能用在口语里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实时语法纠错：在用户写作或口语练习中，调用语法检查API纠正错误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学习路径设计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从零基础到自由沟通的完整路径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286000"/>
            <a:ext cx="1371600" cy="13716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阶段1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0-3个月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</a:rPr>
              <a:t>音标发音筑基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F1F1F"/>
                </a:solidFill>
              </a:rPr>
              <a:t>• 搞定所有音标</a:t>
            </a:r>
          </a:p>
          <a:p>
            <a:pPr/>
            <a:r>
              <a:rPr sz="1200">
                <a:solidFill>
                  <a:srgbClr val="1F1F1F"/>
                </a:solidFill>
              </a:rPr>
              <a:t>• 会拼读任意单词</a:t>
            </a:r>
          </a:p>
          <a:p>
            <a:pPr/>
            <a:r>
              <a:rPr sz="1200">
                <a:solidFill>
                  <a:srgbClr val="1F1F1F"/>
                </a:solidFill>
              </a:rPr>
              <a:t>• 标准发音打底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834640"/>
            <a:ext cx="1097280" cy="9144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2286000"/>
            <a:ext cx="1371600" cy="1371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560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阶段2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926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3-6个月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</a:rPr>
              <a:t>词汇+简单句型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F1F1F"/>
                </a:solidFill>
              </a:rPr>
              <a:t>• 背诵1500高频词</a:t>
            </a:r>
          </a:p>
          <a:p>
            <a:pPr/>
            <a:r>
              <a:rPr sz="1200">
                <a:solidFill>
                  <a:srgbClr val="1F1F1F"/>
                </a:solidFill>
              </a:rPr>
              <a:t>• 掌握基础句式</a:t>
            </a:r>
          </a:p>
          <a:p>
            <a:pPr/>
            <a:r>
              <a:rPr sz="1200">
                <a:solidFill>
                  <a:srgbClr val="1F1F1F"/>
                </a:solidFill>
              </a:rPr>
              <a:t>• 能说简单短句问答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834640"/>
            <a:ext cx="1097280" cy="9144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2286000"/>
            <a:ext cx="1371600" cy="13716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560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阶段3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6-12个月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</a:rPr>
              <a:t>系统语法+短句对话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F1F1F"/>
                </a:solidFill>
              </a:rPr>
              <a:t>• 吃透口语必备语法</a:t>
            </a:r>
          </a:p>
          <a:p>
            <a:pPr/>
            <a:r>
              <a:rPr sz="1200">
                <a:solidFill>
                  <a:srgbClr val="1F1F1F"/>
                </a:solidFill>
              </a:rPr>
              <a:t>• 连贯多句对话</a:t>
            </a:r>
          </a:p>
          <a:p>
            <a:pPr/>
            <a:r>
              <a:rPr sz="1200">
                <a:solidFill>
                  <a:srgbClr val="1F1F1F"/>
                </a:solidFill>
              </a:rPr>
              <a:t>• 应对所有日常场景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2834640"/>
            <a:ext cx="1097280" cy="9144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0" y="2286000"/>
            <a:ext cx="1371600" cy="13716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560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阶段4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926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持续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</a:rPr>
              <a:t>自由沉浸式口语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1F1F1F"/>
                </a:solidFill>
              </a:rPr>
              <a:t>• AI无限话题闲聊</a:t>
            </a:r>
          </a:p>
          <a:p>
            <a:pPr/>
            <a:r>
              <a:rPr sz="1200">
                <a:solidFill>
                  <a:srgbClr val="1F1F1F"/>
                </a:solidFill>
              </a:rPr>
              <a:t>• 角色扮演</a:t>
            </a:r>
          </a:p>
          <a:p>
            <a:pPr/>
            <a:r>
              <a:rPr sz="1200">
                <a:solidFill>
                  <a:srgbClr val="1F1F1F"/>
                </a:solidFill>
              </a:rPr>
              <a:t>• 日常聊天、出行、职场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每日学习建议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864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F1F1F"/>
                </a:solidFill>
              </a:rPr>
              <a:t>• 发音跟读：15分钟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单词记忆：20分钟（新词+复习）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语法学习：15分钟</a:t>
            </a:r>
          </a:p>
          <a:p>
            <a:pPr/>
            <a:r>
              <a:rPr sz="1600">
                <a:solidFill>
                  <a:srgbClr val="1F1F1F"/>
                </a:solidFill>
              </a:rPr>
              <a:t>• 综合练习：10分钟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技术架构设计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系统架构图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286000"/>
            <a:ext cx="3017520" cy="7315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468880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用户界面 (小程序)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474720"/>
            <a:ext cx="3017520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657600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业务逻辑层 (云函数)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663440"/>
            <a:ext cx="3017520" cy="731520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846320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数据层 (云数据库)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852160"/>
            <a:ext cx="3017520" cy="7315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6035040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外部服务 (语音识别API、翻译API等)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017520"/>
            <a:ext cx="91440" cy="4572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4206240"/>
            <a:ext cx="91440" cy="4572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5394960"/>
            <a:ext cx="91440" cy="4572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关键技术点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F1F1F"/>
                </a:solidFill>
              </a:rPr>
              <a:t>• 语音评测：微软Azure发音评测SDK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AI对话：GPT-3.5/4 API或国产大模型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数据存储：MySQL + Redis + OSS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性能优化：CDN加速、离线缓存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跨平台：UniApp/Taro一套代码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推送服务：微信订阅消息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开发计划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三阶段开发计划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第一阶段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1.5个月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</a:rPr>
              <a:t>MVP上线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F1F1F"/>
                </a:solidFill>
              </a:rPr>
              <a:t>• 基础框架搭建（UniApp + 后端服务）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音标跟读基础功能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基础单词背诵（500词）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入门语法课程（阶段1）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基础AI短句对话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打卡分享功能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</a:rPr>
              <a:t>第二阶段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上线后2个月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</a:rPr>
              <a:t>功能完善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4747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F1F1F"/>
                </a:solidFill>
              </a:rPr>
              <a:t>• 完整分级词库（1500词、3000词）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全套语法体系（阶段2、3）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多场景AI自由对话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错题本、生词本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会员付费体系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28600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5042"/>
                </a:solidFill>
              </a:rPr>
              <a:t>第三阶段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用户破万后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</a:rPr>
              <a:t>生态扩展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747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1F1F1F"/>
                </a:solidFill>
              </a:rPr>
              <a:t>• 基于UniApp打包双端App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打通小程序与App数据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社区功能（学习圈、问答）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多渠道运营</a:t>
            </a:r>
          </a:p>
          <a:p>
            <a:pPr/>
            <a:r>
              <a:rPr sz="1400">
                <a:solidFill>
                  <a:srgbClr val="1F1F1F"/>
                </a:solidFill>
              </a:rPr>
              <a:t>• 持续迭代优化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风险与对策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</a:rPr>
              <a:t>潜在挑战与解决方案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1247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描述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对策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语音识别精度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004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不同口音、环境噪音影响识别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2004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9488"/>
                </a:solidFill>
              </a:rPr>
              <a:t>提供标准发音参考，允许重录；后期引入降噪算法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内容版权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114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单词库、例句可能涉及版权问题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114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9488"/>
                </a:solidFill>
              </a:rPr>
              <a:t>使用开源词典（ECdict），自编例句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用户留存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029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</a:rPr>
              <a:t>学习类应用容易流失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50292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9488"/>
                </a:solidFill>
              </a:rPr>
              <a:t>游戏化设计（积分、勋章）、社交激励（组队PK）、定期推送提醒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D3E6"/>
                </a:solidFill>
              </a:rPr>
              <a:t>EnglishMaster - 让英语学习更简单、更高效、更有趣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核心优势：</a:t>
            </a:r>
            <a:br/>
            <a:r>
              <a:t>• AI纠音：音素级发音评估，纠正中式发音</a:t>
            </a:r>
            <a:br/>
            <a:r>
              <a:t>• 科学记忆：艾宾浩斯记忆曲线，高效背单词</a:t>
            </a:r>
            <a:br/>
            <a:r>
              <a:t>• 场景化语法：融入日常对话，学完就能用</a:t>
            </a:r>
            <a:br/>
            <a:r>
              <a:t>• AI对话陪练：模拟真实场景，锻炼口语反应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A7A7A"/>
                </a:solidFill>
              </a:rPr>
              <a:t>期待与您共同打造这款英语学习产品！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